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8" r:id="rId3"/>
    <p:sldId id="269" r:id="rId4"/>
    <p:sldId id="267" r:id="rId5"/>
    <p:sldId id="275" r:id="rId6"/>
    <p:sldId id="274" r:id="rId7"/>
    <p:sldId id="259" r:id="rId8"/>
    <p:sldId id="265" r:id="rId9"/>
    <p:sldId id="271" r:id="rId10"/>
    <p:sldId id="276" r:id="rId11"/>
    <p:sldId id="270" r:id="rId12"/>
    <p:sldId id="272" r:id="rId13"/>
    <p:sldId id="278" r:id="rId14"/>
    <p:sldId id="27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C070F3-FBAA-94DC-D912-ADAF00025F9D}" v="883" dt="2026-04-30T00:40:03.0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Forensic Analysis Case Phase 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By Wendel Jackson</a:t>
            </a:r>
          </a:p>
          <a:p>
            <a:r>
              <a:rPr lang="en-US" dirty="0"/>
              <a:t>CIST 2612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CB0E-C92B-2ADE-D05E-016F03003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E5891-D693-97B0-A7FE-E593D190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spcBef>
                <a:spcPct val="0"/>
              </a:spcBef>
              <a:spcAft>
                <a:spcPct val="35000"/>
              </a:spcAft>
              <a:buNone/>
            </a:pPr>
            <a:r>
              <a:rPr lang="en-US" dirty="0"/>
              <a:t>A Windows 11 system was analyzed after suspicious activity </a:t>
            </a:r>
          </a:p>
          <a:p>
            <a:r>
              <a:rPr lang="en-US" dirty="0"/>
              <a:t>Evidence collected: </a:t>
            </a:r>
          </a:p>
          <a:p>
            <a:r>
              <a:rPr lang="en-US" dirty="0"/>
              <a:t>Disk image </a:t>
            </a:r>
          </a:p>
          <a:p>
            <a:r>
              <a:rPr lang="en-US" dirty="0"/>
              <a:t>Memory dump </a:t>
            </a:r>
          </a:p>
          <a:p>
            <a:r>
              <a:rPr lang="en-US" dirty="0"/>
              <a:t>Suspicious downloaded files was identified </a:t>
            </a:r>
          </a:p>
          <a:p>
            <a:r>
              <a:rPr lang="en-US" dirty="0"/>
              <a:t>System showed unusual program activity </a:t>
            </a:r>
          </a:p>
          <a:p>
            <a:pPr marL="457200" indent="-457200">
              <a:spcBef>
                <a:spcPct val="0"/>
              </a:spcBef>
              <a:spcAft>
                <a:spcPct val="35000"/>
              </a:spcAf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839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DBA82-051B-BC91-C015-4C647D846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3C9FD-C832-F3FE-975F-575A9E10E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The scope is a Logical Image of the Downloads folder on the Windows 11 system and memory dump collected from the host</a:t>
            </a:r>
            <a:r>
              <a:rPr lang="en-US" dirty="0"/>
              <a:t> computer. </a:t>
            </a:r>
          </a:p>
          <a:p>
            <a:r>
              <a:rPr lang="en-US"/>
              <a:t>Disk Image: Image.ad1</a:t>
            </a:r>
            <a:endParaRPr lang="en-US" dirty="0"/>
          </a:p>
          <a:p>
            <a:r>
              <a:rPr lang="en-US" dirty="0"/>
              <a:t>Memory dump: </a:t>
            </a:r>
            <a:r>
              <a:rPr lang="en-US" dirty="0" err="1"/>
              <a:t>physmem.raw</a:t>
            </a:r>
            <a:endParaRPr lang="en-US" dirty="0"/>
          </a:p>
          <a:p>
            <a:r>
              <a:rPr lang="en-US" dirty="0"/>
              <a:t>Due to storage limitations the Logical Image contains the data only from the Downloads directory.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83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405A2-2FAB-0404-DB62-9655CB66A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Acquisition 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033FA-C6AB-2876-4E18-17A0658AC1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A Kali Linux virtual machine on Oracle VirtualBox was used to analyze the data. Multiple tools were used including Autopsy, Volatility, FTK Imager, and </a:t>
            </a:r>
            <a:r>
              <a:rPr lang="en-US" dirty="0" err="1"/>
              <a:t>WinPmem</a:t>
            </a:r>
            <a:r>
              <a:rPr lang="en-US" dirty="0"/>
              <a:t>.  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The evidence collected from the host machine was: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Logical Image of the Downloads folder created using FTK Imager and analyzed with Autopsy.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Memory Dump obtained using </a:t>
            </a:r>
            <a:r>
              <a:rPr lang="en-US" dirty="0" err="1"/>
              <a:t>WinPmem</a:t>
            </a:r>
            <a:r>
              <a:rPr lang="en-US" dirty="0"/>
              <a:t> and analyzed with Volatility.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784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7A92A-A2A6-FA19-AF3E-838E69041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FTK Imager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DC130C-6C1D-8B2F-E90A-BB4282702F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5635" y="1716637"/>
            <a:ext cx="5256741" cy="3819525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7B25285-9DB9-2ECC-CAE3-485BEBC4B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023" y="1717593"/>
            <a:ext cx="5265941" cy="3819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080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7525D3-85D9-44EC-E74A-DBAFB95ABA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92728" y="1024548"/>
            <a:ext cx="6496306" cy="3881602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55038E1-6310-0916-70E4-9992DAD9A6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1" r="12996" b="272"/>
          <a:stretch>
            <a:fillRect/>
          </a:stretch>
        </p:blipFill>
        <p:spPr>
          <a:xfrm>
            <a:off x="-1629" y="1023205"/>
            <a:ext cx="5696384" cy="38827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9038A7-C8B6-8E80-4A69-1F69D68AD917}"/>
              </a:ext>
            </a:extLst>
          </p:cNvPr>
          <p:cNvSpPr txBox="1"/>
          <p:nvPr/>
        </p:nvSpPr>
        <p:spPr>
          <a:xfrm>
            <a:off x="-1629" y="504744"/>
            <a:ext cx="305288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800" dirty="0" err="1"/>
              <a:t>WinPmem</a:t>
            </a:r>
            <a:endParaRPr lang="en-US" sz="3600"/>
          </a:p>
        </p:txBody>
      </p:sp>
    </p:spTree>
    <p:extLst>
      <p:ext uri="{BB962C8B-B14F-4D97-AF65-F5344CB8AC3E}">
        <p14:creationId xmlns:p14="http://schemas.microsoft.com/office/powerpoint/2010/main" val="22135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D6DD2-DA95-C7B1-5091-987314442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Chain of Custody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8BF8E-5398-EE47-3DA4-B3EF92D0B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5505" cy="435133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lvl="0"/>
            <a:r>
              <a:rPr lang="en-US" dirty="0"/>
              <a:t>Evidence ID: 1</a:t>
            </a:r>
          </a:p>
          <a:p>
            <a:pPr lvl="0"/>
            <a:r>
              <a:rPr lang="en-US" dirty="0"/>
              <a:t>Description: Disk Image</a:t>
            </a:r>
          </a:p>
          <a:p>
            <a:r>
              <a:rPr lang="en-US" dirty="0"/>
              <a:t>Date/Time Acquired 4/28/26 3:34 PM EST</a:t>
            </a:r>
          </a:p>
          <a:p>
            <a:pPr lvl="0"/>
            <a:r>
              <a:rPr lang="en-US" dirty="0"/>
              <a:t>Hash: </a:t>
            </a:r>
            <a:r>
              <a:rPr lang="en-US" dirty="0">
                <a:ea typeface="+mn-lt"/>
                <a:cs typeface="+mn-lt"/>
              </a:rPr>
              <a:t>ccc45b5e0c1bc1d2e29ff83a2ba72ec4544db1ebb58d1146ce6ee2aa8d14bdfc</a:t>
            </a:r>
          </a:p>
          <a:p>
            <a:pPr lvl="0"/>
            <a:r>
              <a:rPr lang="en-US" dirty="0"/>
              <a:t>Storage Location: /home/</a:t>
            </a:r>
            <a:r>
              <a:rPr lang="en-US" dirty="0" err="1"/>
              <a:t>wendel</a:t>
            </a:r>
            <a:r>
              <a:rPr lang="en-US" dirty="0"/>
              <a:t>/evidence/Image.ad1</a:t>
            </a:r>
          </a:p>
          <a:p>
            <a:pPr lvl="0"/>
            <a:r>
              <a:rPr lang="en-US" dirty="0"/>
              <a:t>Acquired using FTK Imager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2F93C08-7453-DB41-3DCB-29245EFFD3BC}"/>
              </a:ext>
            </a:extLst>
          </p:cNvPr>
          <p:cNvSpPr txBox="1">
            <a:spLocks/>
          </p:cNvSpPr>
          <p:nvPr/>
        </p:nvSpPr>
        <p:spPr>
          <a:xfrm>
            <a:off x="6717631" y="1825625"/>
            <a:ext cx="5145505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dirty="0"/>
              <a:t>Evidence ID: 2</a:t>
            </a:r>
          </a:p>
          <a:p>
            <a:pPr lvl="0"/>
            <a:r>
              <a:rPr lang="en-US" dirty="0"/>
              <a:t>Description: Memory Dump</a:t>
            </a:r>
          </a:p>
          <a:p>
            <a:r>
              <a:rPr lang="en-US" dirty="0"/>
              <a:t>Date/Time Acquired 4/28/26 3:26 PM EST</a:t>
            </a:r>
          </a:p>
          <a:p>
            <a:pPr lvl="0"/>
            <a:r>
              <a:rPr lang="en-US" dirty="0"/>
              <a:t>Hash: b49d6bd310164c45824f09a272140918ebbc6b8ebc12646bc42770ed526ecfd7</a:t>
            </a:r>
            <a:endParaRPr lang="en-US" sz="1300" dirty="0">
              <a:latin typeface="Times New Roman"/>
              <a:cs typeface="Times New Roman"/>
            </a:endParaRPr>
          </a:p>
          <a:p>
            <a:pPr lvl="0"/>
            <a:r>
              <a:rPr lang="en-US" dirty="0"/>
              <a:t>Storage Location: /home/</a:t>
            </a:r>
            <a:r>
              <a:rPr lang="en-US" dirty="0" err="1"/>
              <a:t>wendel</a:t>
            </a:r>
            <a:r>
              <a:rPr lang="en-US" dirty="0"/>
              <a:t>/evidence/</a:t>
            </a:r>
            <a:r>
              <a:rPr lang="en-US" dirty="0" err="1"/>
              <a:t>physmem.raw</a:t>
            </a:r>
            <a:endParaRPr lang="en-US" dirty="0"/>
          </a:p>
          <a:p>
            <a:pPr lvl="0"/>
            <a:r>
              <a:rPr lang="en-US" dirty="0"/>
              <a:t>Acquired using </a:t>
            </a:r>
            <a:r>
              <a:rPr lang="en-US" dirty="0" err="1"/>
              <a:t>WinPmem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990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637CC-90EB-00A5-A2EB-E5CB7A924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Disk and Memory Storage &amp;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1530B-67B2-5B01-6F70-626708FAF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After </a:t>
            </a:r>
            <a:r>
              <a:rPr lang="en-US"/>
              <a:t>creation,</a:t>
            </a:r>
            <a:r>
              <a:rPr lang="en-US" dirty="0"/>
              <a:t> the files were transferred </a:t>
            </a:r>
            <a:r>
              <a:rPr lang="en-US" dirty="0" err="1"/>
              <a:t>i</a:t>
            </a:r>
            <a:r>
              <a:rPr lang="en-US" dirty="0"/>
              <a:t>nto the secure folder and hashed with sha256. 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BD9A41-D88C-84E8-2111-2B43BD9E3F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67" b="-606"/>
          <a:stretch>
            <a:fillRect/>
          </a:stretch>
        </p:blipFill>
        <p:spPr>
          <a:xfrm>
            <a:off x="836368" y="2787773"/>
            <a:ext cx="5419715" cy="1719660"/>
          </a:xfrm>
          <a:prstGeom prst="rect">
            <a:avLst/>
          </a:prstGeom>
        </p:spPr>
      </p:pic>
      <p:pic>
        <p:nvPicPr>
          <p:cNvPr id="6" name="Picture 5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6379E713-E901-3B6D-BBD7-4D48BB5E79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7" r="1604" b="-617"/>
          <a:stretch>
            <a:fillRect/>
          </a:stretch>
        </p:blipFill>
        <p:spPr>
          <a:xfrm>
            <a:off x="6255035" y="2787162"/>
            <a:ext cx="5938689" cy="172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983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FE007-1E1A-0CE4-7E8F-85CA12383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954" y="-208004"/>
            <a:ext cx="10515600" cy="1325563"/>
          </a:xfrm>
        </p:spPr>
        <p:txBody>
          <a:bodyPr/>
          <a:lstStyle/>
          <a:p>
            <a:r>
              <a:rPr lang="en-US"/>
              <a:t>Image 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F632B-4A44-7D11-B647-AC629CE83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719" y="-1221"/>
            <a:ext cx="6669777" cy="133264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The Image.ad1 file was analyzed in Autopsy and files were found.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51A1B1-015E-A9F2-373C-61E72A0BB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54" y="757239"/>
            <a:ext cx="6094208" cy="5573915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A2F235-636E-A929-42B0-732221474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499" y="757848"/>
            <a:ext cx="6096489" cy="557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224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9BE68B5-449C-F984-E5F0-896533765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1" y="449793"/>
            <a:ext cx="6464300" cy="5961591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091A6A-1F83-C995-D0EF-4B8FE4B07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833" y="455084"/>
            <a:ext cx="5734050" cy="595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832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029E4-1C27-1226-9F28-EDCEBEF44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Memory Data Evidence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1EED2D-4E45-9229-868D-5EA4C1ADC523}"/>
              </a:ext>
            </a:extLst>
          </p:cNvPr>
          <p:cNvSpPr txBox="1"/>
          <p:nvPr/>
        </p:nvSpPr>
        <p:spPr>
          <a:xfrm>
            <a:off x="6543040" y="1381760"/>
            <a:ext cx="471424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Using volatility3 commands the </a:t>
            </a:r>
            <a:r>
              <a:rPr lang="en-US" dirty="0" err="1"/>
              <a:t>physmem.raw</a:t>
            </a:r>
            <a:r>
              <a:rPr lang="en-US" dirty="0"/>
              <a:t> file was analyzed and a few unknown programs were found running. </a:t>
            </a:r>
          </a:p>
        </p:txBody>
      </p:sp>
      <p:pic>
        <p:nvPicPr>
          <p:cNvPr id="3" name="Content Placeholder 2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85D5E3CE-2E32-F906-24BD-D975C35996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33578" y="2302832"/>
            <a:ext cx="6976696" cy="2186353"/>
          </a:xfrm>
          <a:prstGeom prst="rect">
            <a:avLst/>
          </a:prstGeom>
        </p:spPr>
      </p:pic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20E8105-D333-54A7-0216-7D30A0E50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2730" y="5162550"/>
            <a:ext cx="8556625" cy="10202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0F9959-A4A7-6662-E988-EFF924F561CD}"/>
              </a:ext>
            </a:extLst>
          </p:cNvPr>
          <p:cNvSpPr txBox="1"/>
          <p:nvPr/>
        </p:nvSpPr>
        <p:spPr>
          <a:xfrm>
            <a:off x="2497666" y="5164667"/>
            <a:ext cx="11112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Example </a:t>
            </a:r>
          </a:p>
        </p:txBody>
      </p:sp>
    </p:spTree>
    <p:extLst>
      <p:ext uri="{BB962C8B-B14F-4D97-AF65-F5344CB8AC3E}">
        <p14:creationId xmlns:p14="http://schemas.microsoft.com/office/powerpoint/2010/main" val="221978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18BBE-BEC3-8E6B-532B-499AE11A3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Addition 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E8EBE-0E05-60B2-6168-6789F4D42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After  finding the .exe files that were present in the folder, I went to a website called </a:t>
            </a:r>
            <a:r>
              <a:rPr lang="en-US" dirty="0" err="1"/>
              <a:t>VirusTotal</a:t>
            </a:r>
            <a:r>
              <a:rPr lang="en-US" dirty="0"/>
              <a:t> and performed a scan on the files. Multiple of them were flagged as malicious.</a:t>
            </a:r>
          </a:p>
        </p:txBody>
      </p:sp>
      <p:pic>
        <p:nvPicPr>
          <p:cNvPr id="5" name="Picture 4" descr="A screenshot of a computer error&#10;&#10;AI-generated content may be incorrect.">
            <a:extLst>
              <a:ext uri="{FF2B5EF4-FFF2-40B4-BE49-F238E27FC236}">
                <a16:creationId xmlns:a16="http://schemas.microsoft.com/office/drawing/2014/main" id="{9963A8AB-F4D8-B781-6B4B-669247A17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87" y="2991380"/>
            <a:ext cx="6480175" cy="1393825"/>
          </a:xfrm>
          <a:prstGeom prst="rect">
            <a:avLst/>
          </a:prstGeom>
        </p:spPr>
      </p:pic>
      <p:pic>
        <p:nvPicPr>
          <p:cNvPr id="6" name="Picture 5" descr="A screenshot of a computer error&#10;&#10;AI-generated content may be incorrect.">
            <a:extLst>
              <a:ext uri="{FF2B5EF4-FFF2-40B4-BE49-F238E27FC236}">
                <a16:creationId xmlns:a16="http://schemas.microsoft.com/office/drawing/2014/main" id="{B6671C03-B620-9CF6-E3C1-260A7CF2B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999" y="2991908"/>
            <a:ext cx="5672668" cy="1403350"/>
          </a:xfrm>
          <a:prstGeom prst="rect">
            <a:avLst/>
          </a:prstGeom>
        </p:spPr>
      </p:pic>
      <p:pic>
        <p:nvPicPr>
          <p:cNvPr id="7" name="Picture 6" descr="A screenshot of a computer error&#10;&#10;AI-generated content may be incorrect.">
            <a:extLst>
              <a:ext uri="{FF2B5EF4-FFF2-40B4-BE49-F238E27FC236}">
                <a16:creationId xmlns:a16="http://schemas.microsoft.com/office/drawing/2014/main" id="{326DAF36-EE1C-004C-A129-16CDC6958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62" y="4379383"/>
            <a:ext cx="6486525" cy="1274234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AE77461-1646-7185-B6CE-F0980CE9C3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4883" y="4384146"/>
            <a:ext cx="5676900" cy="12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748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C10B5-B32B-B217-1F35-AF12F5500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59866-2182-7666-9F19-EC4F64FD1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Prior to acquisition the files were downloaded. </a:t>
            </a:r>
          </a:p>
          <a:p>
            <a:r>
              <a:rPr lang="en-US" sz="2600"/>
              <a:t>4/28/26 3:34 PM EST – Disk image created </a:t>
            </a:r>
          </a:p>
          <a:p>
            <a:r>
              <a:rPr lang="en-US" sz="2600"/>
              <a:t>4/28/26 3:26 PM EST – Memory Dump created </a:t>
            </a:r>
          </a:p>
          <a:p>
            <a:r>
              <a:rPr lang="en-US" sz="2600"/>
              <a:t>4/28/26 6:06-6:11 PM EST – Volatility used to analyze the memory dump file, discovering unknown files</a:t>
            </a:r>
            <a:endParaRPr lang="en-US" sz="2600" dirty="0"/>
          </a:p>
          <a:p>
            <a:endParaRPr lang="en-US" sz="2600" dirty="0"/>
          </a:p>
          <a:p>
            <a:r>
              <a:rPr lang="en-US" sz="2600" dirty="0"/>
              <a:t>4/29/26 5:18-5:31 PM EST – parsec-windows.exe, eicar.com, drop (eicar.txt), and windows.bat identified in Autopsy </a:t>
            </a:r>
          </a:p>
          <a:p>
            <a:r>
              <a:rPr lang="en-US" sz="2600" dirty="0"/>
              <a:t>4/29/26 5:35-5:37 PM EST -  Identified files scanned with </a:t>
            </a:r>
            <a:r>
              <a:rPr lang="en-US" sz="2600" dirty="0" err="1"/>
              <a:t>VirusTotal</a:t>
            </a:r>
            <a:endParaRPr lang="en-US" sz="26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596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9CA49-6AAA-0B88-1BE1-2E9BE6857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5DB8D-021B-803D-1C6E-540A2699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This investigation concluded that the system may have been compromised after downloading the parsec-windows.exe or one of the other files from the internet.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The VirusTotal Flags and presence of unknown processes running lead to this conclusion.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348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450</Words>
  <Application>Microsoft Office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Times New Roman</vt:lpstr>
      <vt:lpstr>office theme</vt:lpstr>
      <vt:lpstr>Forensic Analysis Case Phase 4</vt:lpstr>
      <vt:lpstr>Overview</vt:lpstr>
      <vt:lpstr>Scope</vt:lpstr>
      <vt:lpstr>Acquisition </vt:lpstr>
      <vt:lpstr>FTK Imager</vt:lpstr>
      <vt:lpstr>PowerPoint Presentation</vt:lpstr>
      <vt:lpstr>Chain of Custody</vt:lpstr>
      <vt:lpstr>Disk and Memory Storage &amp; Hashing</vt:lpstr>
      <vt:lpstr>Image Evidence</vt:lpstr>
      <vt:lpstr>PowerPoint Presentation</vt:lpstr>
      <vt:lpstr>Memory Data Evidence</vt:lpstr>
      <vt:lpstr>Addition Evidence</vt:lpstr>
      <vt:lpstr>Timeline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Wendel Jackson</cp:lastModifiedBy>
  <cp:revision>525</cp:revision>
  <dcterms:created xsi:type="dcterms:W3CDTF">2026-04-23T07:47:17Z</dcterms:created>
  <dcterms:modified xsi:type="dcterms:W3CDTF">2026-04-30T01:58:35Z</dcterms:modified>
</cp:coreProperties>
</file>